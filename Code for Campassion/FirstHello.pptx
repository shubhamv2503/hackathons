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T Interphases Bold" charset="1" panose="02000803060000020004"/>
      <p:regular r:id="rId12"/>
    </p:embeddedFont>
    <p:embeddedFont>
      <p:font typeface="Inter Bold" charset="1" panose="020B0802030000000004"/>
      <p:regular r:id="rId13"/>
    </p:embeddedFont>
    <p:embeddedFont>
      <p:font typeface="Inter" charset="1" panose="020B0502030000000004"/>
      <p:regular r:id="rId14"/>
    </p:embeddedFont>
    <p:embeddedFont>
      <p:font typeface="TT Interphases" charset="1" panose="0200050302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61858" y="6686409"/>
            <a:ext cx="6105491" cy="61054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44234" y="-2271060"/>
            <a:ext cx="4542120" cy="454212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66700" cap="sq">
              <a:solidFill>
                <a:srgbClr val="6A8D4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2284" y="2203003"/>
            <a:ext cx="8281238" cy="224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1"/>
              </a:lnSpc>
            </a:pPr>
            <a:r>
              <a:rPr lang="en-US" sz="13093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Fi</a:t>
            </a:r>
            <a:r>
              <a:rPr lang="en-US" sz="13093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rstHello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1238967"/>
            <a:ext cx="1868662" cy="464694"/>
          </a:xfrm>
          <a:custGeom>
            <a:avLst/>
            <a:gdLst/>
            <a:ahLst/>
            <a:cxnLst/>
            <a:rect r="r" b="b" t="t" l="l"/>
            <a:pathLst>
              <a:path h="464694" w="1868662">
                <a:moveTo>
                  <a:pt x="0" y="0"/>
                </a:moveTo>
                <a:lnTo>
                  <a:pt x="1868662" y="0"/>
                </a:lnTo>
                <a:lnTo>
                  <a:pt x="1868662" y="464694"/>
                </a:lnTo>
                <a:lnTo>
                  <a:pt x="0" y="464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27516" y="7338098"/>
            <a:ext cx="579845" cy="673492"/>
            <a:chOff x="0" y="0"/>
            <a:chExt cx="152716" cy="177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716" cy="177381"/>
            </a:xfrm>
            <a:custGeom>
              <a:avLst/>
              <a:gdLst/>
              <a:ahLst/>
              <a:cxnLst/>
              <a:rect r="r" b="b" t="t" l="l"/>
              <a:pathLst>
                <a:path h="177381" w="152716">
                  <a:moveTo>
                    <a:pt x="76358" y="0"/>
                  </a:moveTo>
                  <a:lnTo>
                    <a:pt x="76358" y="0"/>
                  </a:lnTo>
                  <a:cubicBezTo>
                    <a:pt x="118530" y="0"/>
                    <a:pt x="152716" y="34187"/>
                    <a:pt x="152716" y="76358"/>
                  </a:cubicBezTo>
                  <a:lnTo>
                    <a:pt x="152716" y="101022"/>
                  </a:lnTo>
                  <a:cubicBezTo>
                    <a:pt x="152716" y="143194"/>
                    <a:pt x="118530" y="177381"/>
                    <a:pt x="76358" y="177381"/>
                  </a:cubicBezTo>
                  <a:lnTo>
                    <a:pt x="76358" y="177381"/>
                  </a:lnTo>
                  <a:cubicBezTo>
                    <a:pt x="34187" y="177381"/>
                    <a:pt x="0" y="143194"/>
                    <a:pt x="0" y="101022"/>
                  </a:cubicBezTo>
                  <a:lnTo>
                    <a:pt x="0" y="76358"/>
                  </a:lnTo>
                  <a:cubicBezTo>
                    <a:pt x="0" y="34187"/>
                    <a:pt x="34187" y="0"/>
                    <a:pt x="76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A8D4B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716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52421" y="7338098"/>
            <a:ext cx="2980965" cy="673492"/>
            <a:chOff x="0" y="0"/>
            <a:chExt cx="785110" cy="1773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5110" cy="177381"/>
            </a:xfrm>
            <a:custGeom>
              <a:avLst/>
              <a:gdLst/>
              <a:ahLst/>
              <a:cxnLst/>
              <a:rect r="r" b="b" t="t" l="l"/>
              <a:pathLst>
                <a:path h="177381" w="785110">
                  <a:moveTo>
                    <a:pt x="88690" y="0"/>
                  </a:moveTo>
                  <a:lnTo>
                    <a:pt x="696420" y="0"/>
                  </a:lnTo>
                  <a:cubicBezTo>
                    <a:pt x="745402" y="0"/>
                    <a:pt x="785110" y="39708"/>
                    <a:pt x="785110" y="88690"/>
                  </a:cubicBezTo>
                  <a:lnTo>
                    <a:pt x="785110" y="88690"/>
                  </a:lnTo>
                  <a:cubicBezTo>
                    <a:pt x="785110" y="137673"/>
                    <a:pt x="745402" y="177381"/>
                    <a:pt x="696420" y="177381"/>
                  </a:cubicBezTo>
                  <a:lnTo>
                    <a:pt x="88690" y="177381"/>
                  </a:lnTo>
                  <a:cubicBezTo>
                    <a:pt x="39708" y="177381"/>
                    <a:pt x="0" y="137673"/>
                    <a:pt x="0" y="88690"/>
                  </a:cubicBezTo>
                  <a:lnTo>
                    <a:pt x="0" y="88690"/>
                  </a:lnTo>
                  <a:cubicBezTo>
                    <a:pt x="0" y="39708"/>
                    <a:pt x="39708" y="0"/>
                    <a:pt x="88690" y="0"/>
                  </a:cubicBezTo>
                  <a:close/>
                </a:path>
              </a:pathLst>
            </a:custGeom>
            <a:solidFill>
              <a:srgbClr val="FDC4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5110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0880" y="8173516"/>
            <a:ext cx="579845" cy="673492"/>
            <a:chOff x="0" y="0"/>
            <a:chExt cx="152716" cy="1773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716" cy="177381"/>
            </a:xfrm>
            <a:custGeom>
              <a:avLst/>
              <a:gdLst/>
              <a:ahLst/>
              <a:cxnLst/>
              <a:rect r="r" b="b" t="t" l="l"/>
              <a:pathLst>
                <a:path h="177381" w="152716">
                  <a:moveTo>
                    <a:pt x="76358" y="0"/>
                  </a:moveTo>
                  <a:lnTo>
                    <a:pt x="76358" y="0"/>
                  </a:lnTo>
                  <a:cubicBezTo>
                    <a:pt x="118530" y="0"/>
                    <a:pt x="152716" y="34187"/>
                    <a:pt x="152716" y="76358"/>
                  </a:cubicBezTo>
                  <a:lnTo>
                    <a:pt x="152716" y="101022"/>
                  </a:lnTo>
                  <a:cubicBezTo>
                    <a:pt x="152716" y="143194"/>
                    <a:pt x="118530" y="177381"/>
                    <a:pt x="76358" y="177381"/>
                  </a:cubicBezTo>
                  <a:lnTo>
                    <a:pt x="76358" y="177381"/>
                  </a:lnTo>
                  <a:cubicBezTo>
                    <a:pt x="34187" y="177381"/>
                    <a:pt x="0" y="143194"/>
                    <a:pt x="0" y="101022"/>
                  </a:cubicBezTo>
                  <a:lnTo>
                    <a:pt x="0" y="76358"/>
                  </a:lnTo>
                  <a:cubicBezTo>
                    <a:pt x="0" y="34187"/>
                    <a:pt x="34187" y="0"/>
                    <a:pt x="76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A8D4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2716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15785" y="8173516"/>
            <a:ext cx="2980965" cy="673492"/>
            <a:chOff x="0" y="0"/>
            <a:chExt cx="785110" cy="1773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5110" cy="177381"/>
            </a:xfrm>
            <a:custGeom>
              <a:avLst/>
              <a:gdLst/>
              <a:ahLst/>
              <a:cxnLst/>
              <a:rect r="r" b="b" t="t" l="l"/>
              <a:pathLst>
                <a:path h="177381" w="785110">
                  <a:moveTo>
                    <a:pt x="88690" y="0"/>
                  </a:moveTo>
                  <a:lnTo>
                    <a:pt x="696420" y="0"/>
                  </a:lnTo>
                  <a:cubicBezTo>
                    <a:pt x="745402" y="0"/>
                    <a:pt x="785110" y="39708"/>
                    <a:pt x="785110" y="88690"/>
                  </a:cubicBezTo>
                  <a:lnTo>
                    <a:pt x="785110" y="88690"/>
                  </a:lnTo>
                  <a:cubicBezTo>
                    <a:pt x="785110" y="137673"/>
                    <a:pt x="745402" y="177381"/>
                    <a:pt x="696420" y="177381"/>
                  </a:cubicBezTo>
                  <a:lnTo>
                    <a:pt x="88690" y="177381"/>
                  </a:lnTo>
                  <a:cubicBezTo>
                    <a:pt x="39708" y="177381"/>
                    <a:pt x="0" y="137673"/>
                    <a:pt x="0" y="88690"/>
                  </a:cubicBezTo>
                  <a:lnTo>
                    <a:pt x="0" y="88690"/>
                  </a:lnTo>
                  <a:cubicBezTo>
                    <a:pt x="0" y="39708"/>
                    <a:pt x="39708" y="0"/>
                    <a:pt x="88690" y="0"/>
                  </a:cubicBezTo>
                  <a:close/>
                </a:path>
              </a:pathLst>
            </a:custGeom>
            <a:solidFill>
              <a:srgbClr val="FDC4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85110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69451" y="8173516"/>
            <a:ext cx="579845" cy="673492"/>
            <a:chOff x="0" y="0"/>
            <a:chExt cx="152716" cy="1773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716" cy="177381"/>
            </a:xfrm>
            <a:custGeom>
              <a:avLst/>
              <a:gdLst/>
              <a:ahLst/>
              <a:cxnLst/>
              <a:rect r="r" b="b" t="t" l="l"/>
              <a:pathLst>
                <a:path h="177381" w="152716">
                  <a:moveTo>
                    <a:pt x="76358" y="0"/>
                  </a:moveTo>
                  <a:lnTo>
                    <a:pt x="76358" y="0"/>
                  </a:lnTo>
                  <a:cubicBezTo>
                    <a:pt x="118530" y="0"/>
                    <a:pt x="152716" y="34187"/>
                    <a:pt x="152716" y="76358"/>
                  </a:cubicBezTo>
                  <a:lnTo>
                    <a:pt x="152716" y="101022"/>
                  </a:lnTo>
                  <a:cubicBezTo>
                    <a:pt x="152716" y="143194"/>
                    <a:pt x="118530" y="177381"/>
                    <a:pt x="76358" y="177381"/>
                  </a:cubicBezTo>
                  <a:lnTo>
                    <a:pt x="76358" y="177381"/>
                  </a:lnTo>
                  <a:cubicBezTo>
                    <a:pt x="34187" y="177381"/>
                    <a:pt x="0" y="143194"/>
                    <a:pt x="0" y="101022"/>
                  </a:cubicBezTo>
                  <a:lnTo>
                    <a:pt x="0" y="76358"/>
                  </a:lnTo>
                  <a:cubicBezTo>
                    <a:pt x="0" y="34187"/>
                    <a:pt x="34187" y="0"/>
                    <a:pt x="76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A8D4B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2716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894356" y="8173516"/>
            <a:ext cx="2980965" cy="673492"/>
            <a:chOff x="0" y="0"/>
            <a:chExt cx="785110" cy="1773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5110" cy="177381"/>
            </a:xfrm>
            <a:custGeom>
              <a:avLst/>
              <a:gdLst/>
              <a:ahLst/>
              <a:cxnLst/>
              <a:rect r="r" b="b" t="t" l="l"/>
              <a:pathLst>
                <a:path h="177381" w="785110">
                  <a:moveTo>
                    <a:pt x="88690" y="0"/>
                  </a:moveTo>
                  <a:lnTo>
                    <a:pt x="696420" y="0"/>
                  </a:lnTo>
                  <a:cubicBezTo>
                    <a:pt x="745402" y="0"/>
                    <a:pt x="785110" y="39708"/>
                    <a:pt x="785110" y="88690"/>
                  </a:cubicBezTo>
                  <a:lnTo>
                    <a:pt x="785110" y="88690"/>
                  </a:lnTo>
                  <a:cubicBezTo>
                    <a:pt x="785110" y="137673"/>
                    <a:pt x="745402" y="177381"/>
                    <a:pt x="696420" y="177381"/>
                  </a:cubicBezTo>
                  <a:lnTo>
                    <a:pt x="88690" y="177381"/>
                  </a:lnTo>
                  <a:cubicBezTo>
                    <a:pt x="39708" y="177381"/>
                    <a:pt x="0" y="137673"/>
                    <a:pt x="0" y="88690"/>
                  </a:cubicBezTo>
                  <a:lnTo>
                    <a:pt x="0" y="88690"/>
                  </a:lnTo>
                  <a:cubicBezTo>
                    <a:pt x="0" y="39708"/>
                    <a:pt x="39708" y="0"/>
                    <a:pt x="88690" y="0"/>
                  </a:cubicBezTo>
                  <a:close/>
                </a:path>
              </a:pathLst>
            </a:custGeom>
            <a:solidFill>
              <a:srgbClr val="FDC4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85110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69451" y="9027563"/>
            <a:ext cx="579845" cy="673492"/>
            <a:chOff x="0" y="0"/>
            <a:chExt cx="152716" cy="1773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716" cy="177381"/>
            </a:xfrm>
            <a:custGeom>
              <a:avLst/>
              <a:gdLst/>
              <a:ahLst/>
              <a:cxnLst/>
              <a:rect r="r" b="b" t="t" l="l"/>
              <a:pathLst>
                <a:path h="177381" w="152716">
                  <a:moveTo>
                    <a:pt x="76358" y="0"/>
                  </a:moveTo>
                  <a:lnTo>
                    <a:pt x="76358" y="0"/>
                  </a:lnTo>
                  <a:cubicBezTo>
                    <a:pt x="118530" y="0"/>
                    <a:pt x="152716" y="34187"/>
                    <a:pt x="152716" y="76358"/>
                  </a:cubicBezTo>
                  <a:lnTo>
                    <a:pt x="152716" y="101022"/>
                  </a:lnTo>
                  <a:cubicBezTo>
                    <a:pt x="152716" y="143194"/>
                    <a:pt x="118530" y="177381"/>
                    <a:pt x="76358" y="177381"/>
                  </a:cubicBezTo>
                  <a:lnTo>
                    <a:pt x="76358" y="177381"/>
                  </a:lnTo>
                  <a:cubicBezTo>
                    <a:pt x="34187" y="177381"/>
                    <a:pt x="0" y="143194"/>
                    <a:pt x="0" y="101022"/>
                  </a:cubicBezTo>
                  <a:lnTo>
                    <a:pt x="0" y="76358"/>
                  </a:lnTo>
                  <a:cubicBezTo>
                    <a:pt x="0" y="34187"/>
                    <a:pt x="34187" y="0"/>
                    <a:pt x="76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A8D4B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52716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894356" y="9027563"/>
            <a:ext cx="2980965" cy="673492"/>
            <a:chOff x="0" y="0"/>
            <a:chExt cx="785110" cy="1773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5110" cy="177381"/>
            </a:xfrm>
            <a:custGeom>
              <a:avLst/>
              <a:gdLst/>
              <a:ahLst/>
              <a:cxnLst/>
              <a:rect r="r" b="b" t="t" l="l"/>
              <a:pathLst>
                <a:path h="177381" w="785110">
                  <a:moveTo>
                    <a:pt x="88690" y="0"/>
                  </a:moveTo>
                  <a:lnTo>
                    <a:pt x="696420" y="0"/>
                  </a:lnTo>
                  <a:cubicBezTo>
                    <a:pt x="745402" y="0"/>
                    <a:pt x="785110" y="39708"/>
                    <a:pt x="785110" y="88690"/>
                  </a:cubicBezTo>
                  <a:lnTo>
                    <a:pt x="785110" y="88690"/>
                  </a:lnTo>
                  <a:cubicBezTo>
                    <a:pt x="785110" y="137673"/>
                    <a:pt x="745402" y="177381"/>
                    <a:pt x="696420" y="177381"/>
                  </a:cubicBezTo>
                  <a:lnTo>
                    <a:pt x="88690" y="177381"/>
                  </a:lnTo>
                  <a:cubicBezTo>
                    <a:pt x="39708" y="177381"/>
                    <a:pt x="0" y="137673"/>
                    <a:pt x="0" y="88690"/>
                  </a:cubicBezTo>
                  <a:lnTo>
                    <a:pt x="0" y="88690"/>
                  </a:lnTo>
                  <a:cubicBezTo>
                    <a:pt x="0" y="39708"/>
                    <a:pt x="39708" y="0"/>
                    <a:pt x="88690" y="0"/>
                  </a:cubicBezTo>
                  <a:close/>
                </a:path>
              </a:pathLst>
            </a:custGeom>
            <a:solidFill>
              <a:srgbClr val="FDC4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85110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0880" y="9006309"/>
            <a:ext cx="579845" cy="673492"/>
            <a:chOff x="0" y="0"/>
            <a:chExt cx="152716" cy="17738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2716" cy="177381"/>
            </a:xfrm>
            <a:custGeom>
              <a:avLst/>
              <a:gdLst/>
              <a:ahLst/>
              <a:cxnLst/>
              <a:rect r="r" b="b" t="t" l="l"/>
              <a:pathLst>
                <a:path h="177381" w="152716">
                  <a:moveTo>
                    <a:pt x="76358" y="0"/>
                  </a:moveTo>
                  <a:lnTo>
                    <a:pt x="76358" y="0"/>
                  </a:lnTo>
                  <a:cubicBezTo>
                    <a:pt x="118530" y="0"/>
                    <a:pt x="152716" y="34187"/>
                    <a:pt x="152716" y="76358"/>
                  </a:cubicBezTo>
                  <a:lnTo>
                    <a:pt x="152716" y="101022"/>
                  </a:lnTo>
                  <a:cubicBezTo>
                    <a:pt x="152716" y="143194"/>
                    <a:pt x="118530" y="177381"/>
                    <a:pt x="76358" y="177381"/>
                  </a:cubicBezTo>
                  <a:lnTo>
                    <a:pt x="76358" y="177381"/>
                  </a:lnTo>
                  <a:cubicBezTo>
                    <a:pt x="34187" y="177381"/>
                    <a:pt x="0" y="143194"/>
                    <a:pt x="0" y="101022"/>
                  </a:cubicBezTo>
                  <a:lnTo>
                    <a:pt x="0" y="76358"/>
                  </a:lnTo>
                  <a:cubicBezTo>
                    <a:pt x="0" y="34187"/>
                    <a:pt x="34187" y="0"/>
                    <a:pt x="76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A8D4B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52716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15785" y="9006309"/>
            <a:ext cx="2980965" cy="673492"/>
            <a:chOff x="0" y="0"/>
            <a:chExt cx="785110" cy="1773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5110" cy="177381"/>
            </a:xfrm>
            <a:custGeom>
              <a:avLst/>
              <a:gdLst/>
              <a:ahLst/>
              <a:cxnLst/>
              <a:rect r="r" b="b" t="t" l="l"/>
              <a:pathLst>
                <a:path h="177381" w="785110">
                  <a:moveTo>
                    <a:pt x="88690" y="0"/>
                  </a:moveTo>
                  <a:lnTo>
                    <a:pt x="696420" y="0"/>
                  </a:lnTo>
                  <a:cubicBezTo>
                    <a:pt x="745402" y="0"/>
                    <a:pt x="785110" y="39708"/>
                    <a:pt x="785110" y="88690"/>
                  </a:cubicBezTo>
                  <a:lnTo>
                    <a:pt x="785110" y="88690"/>
                  </a:lnTo>
                  <a:cubicBezTo>
                    <a:pt x="785110" y="137673"/>
                    <a:pt x="745402" y="177381"/>
                    <a:pt x="696420" y="177381"/>
                  </a:cubicBezTo>
                  <a:lnTo>
                    <a:pt x="88690" y="177381"/>
                  </a:lnTo>
                  <a:cubicBezTo>
                    <a:pt x="39708" y="177381"/>
                    <a:pt x="0" y="137673"/>
                    <a:pt x="0" y="88690"/>
                  </a:cubicBezTo>
                  <a:lnTo>
                    <a:pt x="0" y="88690"/>
                  </a:lnTo>
                  <a:cubicBezTo>
                    <a:pt x="0" y="39708"/>
                    <a:pt x="39708" y="0"/>
                    <a:pt x="88690" y="0"/>
                  </a:cubicBezTo>
                  <a:close/>
                </a:path>
              </a:pathLst>
            </a:custGeom>
            <a:solidFill>
              <a:srgbClr val="FDC45E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85110" cy="215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875321" y="3688782"/>
            <a:ext cx="10220798" cy="4697655"/>
          </a:xfrm>
          <a:custGeom>
            <a:avLst/>
            <a:gdLst/>
            <a:ahLst/>
            <a:cxnLst/>
            <a:rect r="r" b="b" t="t" l="l"/>
            <a:pathLst>
              <a:path h="4697655" w="10220798">
                <a:moveTo>
                  <a:pt x="0" y="0"/>
                </a:moveTo>
                <a:lnTo>
                  <a:pt x="10220798" y="0"/>
                </a:lnTo>
                <a:lnTo>
                  <a:pt x="10220798" y="4697655"/>
                </a:lnTo>
                <a:lnTo>
                  <a:pt x="0" y="4697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048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80803" y="4873182"/>
            <a:ext cx="8335350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lp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tivi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end t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R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ig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ht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mes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ag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— t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Right 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opl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—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at the Ri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28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ht time.</a:t>
            </a:r>
          </a:p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2695096" y="7502647"/>
            <a:ext cx="1644686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17439" y="7502647"/>
            <a:ext cx="3650929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8460" y="8338064"/>
            <a:ext cx="1644686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0803" y="8338064"/>
            <a:ext cx="3650929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PALAK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737031" y="8338064"/>
            <a:ext cx="1644686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59374" y="8338064"/>
            <a:ext cx="3650929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SHUBHAM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737031" y="9192112"/>
            <a:ext cx="1644686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59374" y="9192112"/>
            <a:ext cx="3650929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SARADA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58460" y="9170858"/>
            <a:ext cx="1644686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0803" y="9170858"/>
            <a:ext cx="3650929" cy="3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181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MANDIRA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1753" y="4166884"/>
            <a:ext cx="5657501" cy="8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455A32"/>
                </a:solidFill>
                <a:latin typeface="Inter Bold"/>
                <a:ea typeface="Inter Bold"/>
                <a:cs typeface="Inter Bold"/>
                <a:sym typeface="Inter Bold"/>
              </a:rPr>
              <a:t>Co</a:t>
            </a:r>
            <a:r>
              <a:rPr lang="en-US" b="true" sz="3399" strike="noStrike" u="none">
                <a:solidFill>
                  <a:srgbClr val="455A32"/>
                </a:solidFill>
                <a:latin typeface="Inter Bold"/>
                <a:ea typeface="Inter Bold"/>
                <a:cs typeface="Inter Bold"/>
                <a:sym typeface="Inter Bold"/>
              </a:rPr>
              <a:t>ld</a:t>
            </a:r>
            <a:r>
              <a:rPr lang="en-US" b="true" sz="3399" strike="noStrike" u="none">
                <a:solidFill>
                  <a:srgbClr val="455A32"/>
                </a:solidFill>
                <a:latin typeface="Inter Bold"/>
                <a:ea typeface="Inter Bold"/>
                <a:cs typeface="Inter Bold"/>
                <a:sym typeface="Inter Bold"/>
              </a:rPr>
              <a:t> Out</a:t>
            </a:r>
            <a:r>
              <a:rPr lang="en-US" b="true" sz="3399" strike="noStrike" u="none">
                <a:solidFill>
                  <a:srgbClr val="455A32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3399" strike="noStrike" u="none">
                <a:solidFill>
                  <a:srgbClr val="455A32"/>
                </a:solidFill>
                <a:latin typeface="Inter Bold"/>
                <a:ea typeface="Inter Bold"/>
                <a:cs typeface="Inter Bold"/>
                <a:sym typeface="Inter Bold"/>
              </a:rPr>
              <a:t>each Automato</a:t>
            </a:r>
            <a:r>
              <a:rPr lang="en-US" b="true" sz="3399" strike="noStrike" u="none">
                <a:solidFill>
                  <a:srgbClr val="455A32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</a:p>
          <a:p>
            <a:pPr algn="just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5665462" y="523874"/>
            <a:ext cx="2329354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07/07/2025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15184" y="-2431706"/>
            <a:ext cx="9987259" cy="5183434"/>
            <a:chOff x="0" y="0"/>
            <a:chExt cx="156607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6074" cy="812800"/>
            </a:xfrm>
            <a:custGeom>
              <a:avLst/>
              <a:gdLst/>
              <a:ahLst/>
              <a:cxnLst/>
              <a:rect r="r" b="b" t="t" l="l"/>
              <a:pathLst>
                <a:path h="812800" w="1566074">
                  <a:moveTo>
                    <a:pt x="783037" y="0"/>
                  </a:moveTo>
                  <a:cubicBezTo>
                    <a:pt x="350578" y="0"/>
                    <a:pt x="0" y="181951"/>
                    <a:pt x="0" y="406400"/>
                  </a:cubicBezTo>
                  <a:cubicBezTo>
                    <a:pt x="0" y="630849"/>
                    <a:pt x="350578" y="812800"/>
                    <a:pt x="783037" y="812800"/>
                  </a:cubicBezTo>
                  <a:cubicBezTo>
                    <a:pt x="1215497" y="812800"/>
                    <a:pt x="1566074" y="630849"/>
                    <a:pt x="1566074" y="406400"/>
                  </a:cubicBezTo>
                  <a:cubicBezTo>
                    <a:pt x="1566074" y="181951"/>
                    <a:pt x="1215497" y="0"/>
                    <a:pt x="783037" y="0"/>
                  </a:cubicBezTo>
                  <a:close/>
                </a:path>
              </a:pathLst>
            </a:custGeom>
            <a:solidFill>
              <a:srgbClr val="6A8D4B"/>
            </a:solidFill>
            <a:ln w="266700" cap="sq">
              <a:solidFill>
                <a:srgbClr val="6A8D4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46819" y="38100"/>
              <a:ext cx="127243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9728" y="4660538"/>
            <a:ext cx="9618798" cy="3952556"/>
            <a:chOff x="0" y="0"/>
            <a:chExt cx="2533346" cy="1041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33346" cy="1041003"/>
            </a:xfrm>
            <a:custGeom>
              <a:avLst/>
              <a:gdLst/>
              <a:ahLst/>
              <a:cxnLst/>
              <a:rect r="r" b="b" t="t" l="l"/>
              <a:pathLst>
                <a:path h="1041003" w="2533346">
                  <a:moveTo>
                    <a:pt x="41049" y="0"/>
                  </a:moveTo>
                  <a:lnTo>
                    <a:pt x="2492297" y="0"/>
                  </a:lnTo>
                  <a:cubicBezTo>
                    <a:pt x="2503184" y="0"/>
                    <a:pt x="2513625" y="4325"/>
                    <a:pt x="2521323" y="12023"/>
                  </a:cubicBezTo>
                  <a:cubicBezTo>
                    <a:pt x="2529021" y="19721"/>
                    <a:pt x="2533346" y="30162"/>
                    <a:pt x="2533346" y="41049"/>
                  </a:cubicBezTo>
                  <a:lnTo>
                    <a:pt x="2533346" y="999954"/>
                  </a:lnTo>
                  <a:cubicBezTo>
                    <a:pt x="2533346" y="1022624"/>
                    <a:pt x="2514968" y="1041003"/>
                    <a:pt x="2492297" y="1041003"/>
                  </a:cubicBezTo>
                  <a:lnTo>
                    <a:pt x="41049" y="1041003"/>
                  </a:lnTo>
                  <a:cubicBezTo>
                    <a:pt x="30162" y="1041003"/>
                    <a:pt x="19721" y="1036678"/>
                    <a:pt x="12023" y="1028980"/>
                  </a:cubicBezTo>
                  <a:cubicBezTo>
                    <a:pt x="4325" y="1021282"/>
                    <a:pt x="0" y="1010841"/>
                    <a:pt x="0" y="999954"/>
                  </a:cubicBezTo>
                  <a:lnTo>
                    <a:pt x="0" y="41049"/>
                  </a:lnTo>
                  <a:cubicBezTo>
                    <a:pt x="0" y="30162"/>
                    <a:pt x="4325" y="19721"/>
                    <a:pt x="12023" y="12023"/>
                  </a:cubicBezTo>
                  <a:cubicBezTo>
                    <a:pt x="19721" y="4325"/>
                    <a:pt x="30162" y="0"/>
                    <a:pt x="41049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3346" cy="1079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1508500"/>
            <a:ext cx="9838184" cy="6558789"/>
          </a:xfrm>
          <a:custGeom>
            <a:avLst/>
            <a:gdLst/>
            <a:ahLst/>
            <a:cxnLst/>
            <a:rect r="r" b="b" t="t" l="l"/>
            <a:pathLst>
              <a:path h="6558789" w="9838184">
                <a:moveTo>
                  <a:pt x="0" y="0"/>
                </a:moveTo>
                <a:lnTo>
                  <a:pt x="9838184" y="0"/>
                </a:lnTo>
                <a:lnTo>
                  <a:pt x="9838184" y="6558789"/>
                </a:lnTo>
                <a:lnTo>
                  <a:pt x="0" y="6558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7421" y="222250"/>
            <a:ext cx="7190805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</a:t>
            </a:r>
            <a:r>
              <a:rPr lang="en-US" sz="84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574" y="3304178"/>
            <a:ext cx="8450426" cy="101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5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Cold Em</a:t>
            </a:r>
            <a:r>
              <a:rPr lang="en-US" sz="35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ails for Good Causes Often Fail to Reach the Right People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574" y="4905710"/>
            <a:ext cx="9251105" cy="377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327"/>
              </a:lnSpc>
              <a:buFont typeface="Arial"/>
              <a:buChar char="•"/>
            </a:pPr>
            <a:r>
              <a:rPr lang="en-US" sz="2599" spc="-8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Writing</a:t>
            </a:r>
            <a:r>
              <a:rPr lang="en-US" sz="2599" spc="-8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effective, personalized outreach emails is </a:t>
            </a:r>
            <a:r>
              <a:rPr lang="en-US" b="true" sz="2599" spc="-8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time-consuming and intimidating</a:t>
            </a:r>
          </a:p>
          <a:p>
            <a:pPr algn="l" marL="561336" indent="-280668" lvl="1">
              <a:lnSpc>
                <a:spcPts val="3327"/>
              </a:lnSpc>
              <a:buFont typeface="Arial"/>
              <a:buChar char="•"/>
            </a:pPr>
            <a:r>
              <a:rPr lang="en-US" sz="2599" spc="-8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Activists lack tools to find the </a:t>
            </a:r>
            <a:r>
              <a:rPr lang="en-US" b="true" sz="2599" spc="-8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right contacts</a:t>
            </a:r>
            <a:r>
              <a:rPr lang="en-US" sz="2599" spc="-8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 big companies</a:t>
            </a:r>
          </a:p>
          <a:p>
            <a:pPr algn="l" marL="561336" indent="-280668" lvl="1">
              <a:lnSpc>
                <a:spcPts val="3327"/>
              </a:lnSpc>
              <a:buFont typeface="Arial"/>
              <a:buChar char="•"/>
            </a:pPr>
            <a:r>
              <a:rPr lang="en-US" sz="2599" spc="-8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Most AI email tools are </a:t>
            </a:r>
            <a:r>
              <a:rPr lang="en-US" b="true" sz="2599" spc="-8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generic, salesy,</a:t>
            </a:r>
            <a:r>
              <a:rPr lang="en-US" sz="2599" spc="-8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not suitable for </a:t>
            </a:r>
            <a:r>
              <a:rPr lang="en-US" b="true" sz="2599" spc="-8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humanitarian campaigns</a:t>
            </a:r>
          </a:p>
          <a:p>
            <a:pPr algn="l" marL="561336" indent="-280668" lvl="1">
              <a:lnSpc>
                <a:spcPts val="3327"/>
              </a:lnSpc>
              <a:buFont typeface="Arial"/>
              <a:buChar char="•"/>
            </a:pPr>
            <a:r>
              <a:rPr lang="en-US" sz="2599" spc="-8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There's no system that deeply understands the </a:t>
            </a:r>
            <a:r>
              <a:rPr lang="en-US" b="true" sz="2599" spc="-8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emotion, purpose, and target</a:t>
            </a:r>
            <a:r>
              <a:rPr lang="en-US" sz="2599" spc="-8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 social impact work</a:t>
            </a:r>
          </a:p>
          <a:p>
            <a:pPr algn="l" marL="0" indent="0" lvl="0">
              <a:lnSpc>
                <a:spcPts val="3327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4768595" y="7789021"/>
            <a:ext cx="4542120" cy="454212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66700" cap="sq">
              <a:solidFill>
                <a:srgbClr val="6A8D4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38435" y="564006"/>
            <a:ext cx="1868662" cy="464694"/>
          </a:xfrm>
          <a:custGeom>
            <a:avLst/>
            <a:gdLst/>
            <a:ahLst/>
            <a:cxnLst/>
            <a:rect r="r" b="b" t="t" l="l"/>
            <a:pathLst>
              <a:path h="464694" w="1868662">
                <a:moveTo>
                  <a:pt x="0" y="0"/>
                </a:moveTo>
                <a:lnTo>
                  <a:pt x="1868662" y="0"/>
                </a:lnTo>
                <a:lnTo>
                  <a:pt x="1868662" y="464694"/>
                </a:lnTo>
                <a:lnTo>
                  <a:pt x="0" y="46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5747" y="4963406"/>
            <a:ext cx="2785399" cy="3447503"/>
            <a:chOff x="0" y="0"/>
            <a:chExt cx="870124" cy="1076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0124" cy="1076957"/>
            </a:xfrm>
            <a:custGeom>
              <a:avLst/>
              <a:gdLst/>
              <a:ahLst/>
              <a:cxnLst/>
              <a:rect r="r" b="b" t="t" l="l"/>
              <a:pathLst>
                <a:path h="1076957" w="870124">
                  <a:moveTo>
                    <a:pt x="72266" y="0"/>
                  </a:moveTo>
                  <a:lnTo>
                    <a:pt x="797858" y="0"/>
                  </a:lnTo>
                  <a:cubicBezTo>
                    <a:pt x="837769" y="0"/>
                    <a:pt x="870124" y="32355"/>
                    <a:pt x="870124" y="72266"/>
                  </a:cubicBezTo>
                  <a:lnTo>
                    <a:pt x="870124" y="1004691"/>
                  </a:lnTo>
                  <a:cubicBezTo>
                    <a:pt x="870124" y="1044602"/>
                    <a:pt x="837769" y="1076957"/>
                    <a:pt x="797858" y="1076957"/>
                  </a:cubicBezTo>
                  <a:lnTo>
                    <a:pt x="72266" y="1076957"/>
                  </a:lnTo>
                  <a:cubicBezTo>
                    <a:pt x="32355" y="1076957"/>
                    <a:pt x="0" y="1044602"/>
                    <a:pt x="0" y="1004691"/>
                  </a:cubicBezTo>
                  <a:lnTo>
                    <a:pt x="0" y="72266"/>
                  </a:lnTo>
                  <a:cubicBezTo>
                    <a:pt x="0" y="32355"/>
                    <a:pt x="32355" y="0"/>
                    <a:pt x="72266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0124" cy="111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44250" y="4963406"/>
            <a:ext cx="2785399" cy="3447503"/>
            <a:chOff x="0" y="0"/>
            <a:chExt cx="870124" cy="10769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0124" cy="1076957"/>
            </a:xfrm>
            <a:custGeom>
              <a:avLst/>
              <a:gdLst/>
              <a:ahLst/>
              <a:cxnLst/>
              <a:rect r="r" b="b" t="t" l="l"/>
              <a:pathLst>
                <a:path h="1076957" w="870124">
                  <a:moveTo>
                    <a:pt x="72266" y="0"/>
                  </a:moveTo>
                  <a:lnTo>
                    <a:pt x="797858" y="0"/>
                  </a:lnTo>
                  <a:cubicBezTo>
                    <a:pt x="837769" y="0"/>
                    <a:pt x="870124" y="32355"/>
                    <a:pt x="870124" y="72266"/>
                  </a:cubicBezTo>
                  <a:lnTo>
                    <a:pt x="870124" y="1004691"/>
                  </a:lnTo>
                  <a:cubicBezTo>
                    <a:pt x="870124" y="1044602"/>
                    <a:pt x="837769" y="1076957"/>
                    <a:pt x="797858" y="1076957"/>
                  </a:cubicBezTo>
                  <a:lnTo>
                    <a:pt x="72266" y="1076957"/>
                  </a:lnTo>
                  <a:cubicBezTo>
                    <a:pt x="32355" y="1076957"/>
                    <a:pt x="0" y="1044602"/>
                    <a:pt x="0" y="1004691"/>
                  </a:cubicBezTo>
                  <a:lnTo>
                    <a:pt x="0" y="72266"/>
                  </a:lnTo>
                  <a:cubicBezTo>
                    <a:pt x="0" y="32355"/>
                    <a:pt x="32355" y="0"/>
                    <a:pt x="72266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70124" cy="111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9580" y="497838"/>
            <a:ext cx="1868662" cy="464694"/>
          </a:xfrm>
          <a:custGeom>
            <a:avLst/>
            <a:gdLst/>
            <a:ahLst/>
            <a:cxnLst/>
            <a:rect r="r" b="b" t="t" l="l"/>
            <a:pathLst>
              <a:path h="464694" w="1868662">
                <a:moveTo>
                  <a:pt x="0" y="0"/>
                </a:moveTo>
                <a:lnTo>
                  <a:pt x="1868663" y="0"/>
                </a:lnTo>
                <a:lnTo>
                  <a:pt x="1868663" y="464694"/>
                </a:lnTo>
                <a:lnTo>
                  <a:pt x="0" y="464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282049" y="4963406"/>
            <a:ext cx="2785399" cy="3447503"/>
            <a:chOff x="0" y="0"/>
            <a:chExt cx="870124" cy="10769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0124" cy="1076957"/>
            </a:xfrm>
            <a:custGeom>
              <a:avLst/>
              <a:gdLst/>
              <a:ahLst/>
              <a:cxnLst/>
              <a:rect r="r" b="b" t="t" l="l"/>
              <a:pathLst>
                <a:path h="1076957" w="870124">
                  <a:moveTo>
                    <a:pt x="72266" y="0"/>
                  </a:moveTo>
                  <a:lnTo>
                    <a:pt x="797858" y="0"/>
                  </a:lnTo>
                  <a:cubicBezTo>
                    <a:pt x="837769" y="0"/>
                    <a:pt x="870124" y="32355"/>
                    <a:pt x="870124" y="72266"/>
                  </a:cubicBezTo>
                  <a:lnTo>
                    <a:pt x="870124" y="1004691"/>
                  </a:lnTo>
                  <a:cubicBezTo>
                    <a:pt x="870124" y="1044602"/>
                    <a:pt x="837769" y="1076957"/>
                    <a:pt x="797858" y="1076957"/>
                  </a:cubicBezTo>
                  <a:lnTo>
                    <a:pt x="72266" y="1076957"/>
                  </a:lnTo>
                  <a:cubicBezTo>
                    <a:pt x="32355" y="1076957"/>
                    <a:pt x="0" y="1044602"/>
                    <a:pt x="0" y="1004691"/>
                  </a:cubicBezTo>
                  <a:lnTo>
                    <a:pt x="0" y="72266"/>
                  </a:lnTo>
                  <a:cubicBezTo>
                    <a:pt x="0" y="32355"/>
                    <a:pt x="32355" y="0"/>
                    <a:pt x="72266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70124" cy="111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20552" y="4963406"/>
            <a:ext cx="2785399" cy="3447503"/>
            <a:chOff x="0" y="0"/>
            <a:chExt cx="870124" cy="10769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0124" cy="1076957"/>
            </a:xfrm>
            <a:custGeom>
              <a:avLst/>
              <a:gdLst/>
              <a:ahLst/>
              <a:cxnLst/>
              <a:rect r="r" b="b" t="t" l="l"/>
              <a:pathLst>
                <a:path h="1076957" w="870124">
                  <a:moveTo>
                    <a:pt x="72266" y="0"/>
                  </a:moveTo>
                  <a:lnTo>
                    <a:pt x="797858" y="0"/>
                  </a:lnTo>
                  <a:cubicBezTo>
                    <a:pt x="837769" y="0"/>
                    <a:pt x="870124" y="32355"/>
                    <a:pt x="870124" y="72266"/>
                  </a:cubicBezTo>
                  <a:lnTo>
                    <a:pt x="870124" y="1004691"/>
                  </a:lnTo>
                  <a:cubicBezTo>
                    <a:pt x="870124" y="1044602"/>
                    <a:pt x="837769" y="1076957"/>
                    <a:pt x="797858" y="1076957"/>
                  </a:cubicBezTo>
                  <a:lnTo>
                    <a:pt x="72266" y="1076957"/>
                  </a:lnTo>
                  <a:cubicBezTo>
                    <a:pt x="32355" y="1076957"/>
                    <a:pt x="0" y="1044602"/>
                    <a:pt x="0" y="1004691"/>
                  </a:cubicBezTo>
                  <a:lnTo>
                    <a:pt x="0" y="72266"/>
                  </a:lnTo>
                  <a:cubicBezTo>
                    <a:pt x="0" y="32355"/>
                    <a:pt x="32355" y="0"/>
                    <a:pt x="72266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70124" cy="111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58351" y="4963406"/>
            <a:ext cx="2785399" cy="3447503"/>
            <a:chOff x="0" y="0"/>
            <a:chExt cx="870124" cy="10769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0124" cy="1076957"/>
            </a:xfrm>
            <a:custGeom>
              <a:avLst/>
              <a:gdLst/>
              <a:ahLst/>
              <a:cxnLst/>
              <a:rect r="r" b="b" t="t" l="l"/>
              <a:pathLst>
                <a:path h="1076957" w="870124">
                  <a:moveTo>
                    <a:pt x="72266" y="0"/>
                  </a:moveTo>
                  <a:lnTo>
                    <a:pt x="797858" y="0"/>
                  </a:lnTo>
                  <a:cubicBezTo>
                    <a:pt x="837769" y="0"/>
                    <a:pt x="870124" y="32355"/>
                    <a:pt x="870124" y="72266"/>
                  </a:cubicBezTo>
                  <a:lnTo>
                    <a:pt x="870124" y="1004691"/>
                  </a:lnTo>
                  <a:cubicBezTo>
                    <a:pt x="870124" y="1044602"/>
                    <a:pt x="837769" y="1076957"/>
                    <a:pt x="797858" y="1076957"/>
                  </a:cubicBezTo>
                  <a:lnTo>
                    <a:pt x="72266" y="1076957"/>
                  </a:lnTo>
                  <a:cubicBezTo>
                    <a:pt x="32355" y="1076957"/>
                    <a:pt x="0" y="1044602"/>
                    <a:pt x="0" y="1004691"/>
                  </a:cubicBezTo>
                  <a:lnTo>
                    <a:pt x="0" y="72266"/>
                  </a:lnTo>
                  <a:cubicBezTo>
                    <a:pt x="0" y="32355"/>
                    <a:pt x="32355" y="0"/>
                    <a:pt x="72266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70124" cy="111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96854" y="4963406"/>
            <a:ext cx="2785399" cy="3447503"/>
            <a:chOff x="0" y="0"/>
            <a:chExt cx="870124" cy="10769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0124" cy="1076957"/>
            </a:xfrm>
            <a:custGeom>
              <a:avLst/>
              <a:gdLst/>
              <a:ahLst/>
              <a:cxnLst/>
              <a:rect r="r" b="b" t="t" l="l"/>
              <a:pathLst>
                <a:path h="1076957" w="870124">
                  <a:moveTo>
                    <a:pt x="72266" y="0"/>
                  </a:moveTo>
                  <a:lnTo>
                    <a:pt x="797858" y="0"/>
                  </a:lnTo>
                  <a:cubicBezTo>
                    <a:pt x="837769" y="0"/>
                    <a:pt x="870124" y="32355"/>
                    <a:pt x="870124" y="72266"/>
                  </a:cubicBezTo>
                  <a:lnTo>
                    <a:pt x="870124" y="1004691"/>
                  </a:lnTo>
                  <a:cubicBezTo>
                    <a:pt x="870124" y="1044602"/>
                    <a:pt x="837769" y="1076957"/>
                    <a:pt x="797858" y="1076957"/>
                  </a:cubicBezTo>
                  <a:lnTo>
                    <a:pt x="72266" y="1076957"/>
                  </a:lnTo>
                  <a:cubicBezTo>
                    <a:pt x="32355" y="1076957"/>
                    <a:pt x="0" y="1044602"/>
                    <a:pt x="0" y="1004691"/>
                  </a:cubicBezTo>
                  <a:lnTo>
                    <a:pt x="0" y="72266"/>
                  </a:lnTo>
                  <a:cubicBezTo>
                    <a:pt x="0" y="32355"/>
                    <a:pt x="32355" y="0"/>
                    <a:pt x="72266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0124" cy="111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363554" y="1028700"/>
            <a:ext cx="8294823" cy="3953756"/>
          </a:xfrm>
          <a:custGeom>
            <a:avLst/>
            <a:gdLst/>
            <a:ahLst/>
            <a:cxnLst/>
            <a:rect r="r" b="b" t="t" l="l"/>
            <a:pathLst>
              <a:path h="3953756" w="8294823">
                <a:moveTo>
                  <a:pt x="0" y="0"/>
                </a:moveTo>
                <a:lnTo>
                  <a:pt x="8294823" y="0"/>
                </a:lnTo>
                <a:lnTo>
                  <a:pt x="8294823" y="3953756"/>
                </a:lnTo>
                <a:lnTo>
                  <a:pt x="0" y="3953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864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98185" y="1620615"/>
            <a:ext cx="77813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8185" y="3176365"/>
            <a:ext cx="9322593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Meet FirstHello — Your Outreach Wingperson for Social Change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9580" y="6411298"/>
            <a:ext cx="2499394" cy="160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</a:pPr>
            <a:r>
              <a:rPr lang="en-US" sz="2517" spc="-7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oa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l,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tar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pan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y,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ndust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ry</a:t>
            </a:r>
          </a:p>
          <a:p>
            <a:pPr algn="ctr" marL="0" indent="0" lvl="0">
              <a:lnSpc>
                <a:spcPts val="322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487252" y="6401773"/>
            <a:ext cx="2499394" cy="160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  <a:spcBef>
                <a:spcPct val="0"/>
              </a:spcBef>
            </a:pPr>
            <a:r>
              <a:rPr lang="en-US" sz="2517" spc="-7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-finds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isi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n-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ker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 CSR, ESG, PR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25403" y="6710359"/>
            <a:ext cx="2499394" cy="120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</a:pPr>
            <a:r>
              <a:rPr lang="en-US" sz="2517" spc="-7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arm, human, cause-ali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ned language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3554" y="6430348"/>
            <a:ext cx="2499394" cy="120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  <a:spcBef>
                <a:spcPct val="0"/>
              </a:spcBef>
            </a:pPr>
            <a:r>
              <a:rPr lang="en-US" sz="2517" spc="-7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Each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ema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 with tailore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 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act, ro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01705" y="6710359"/>
            <a:ext cx="2499394" cy="803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</a:pPr>
            <a:r>
              <a:rPr lang="en-US" sz="2517" spc="-7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ady to send in seconds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22234" y="5544994"/>
            <a:ext cx="16946738" cy="1174890"/>
            <a:chOff x="0" y="0"/>
            <a:chExt cx="22595651" cy="1566521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28575"/>
              <a:ext cx="2869899" cy="1061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2"/>
                </a:lnSpc>
              </a:pP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Inp</a:t>
              </a: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ut Campaign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780395" y="-28575"/>
              <a:ext cx="3145117" cy="1061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2"/>
                </a:lnSpc>
                <a:spcBef>
                  <a:spcPct val="0"/>
                </a:spcBef>
              </a:pP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Smart Contact Discovery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835069" y="-28575"/>
              <a:ext cx="2869899" cy="1595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2"/>
                </a:lnSpc>
              </a:pP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Person</a:t>
              </a: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alized Email Generation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1615464" y="-28575"/>
              <a:ext cx="3145117" cy="1061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2"/>
                </a:lnSpc>
                <a:spcBef>
                  <a:spcPct val="0"/>
                </a:spcBef>
              </a:pP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Retu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ns 3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ique Dr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670139" y="-28575"/>
              <a:ext cx="2869899" cy="1595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2"/>
                </a:lnSpc>
              </a:pP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Syncs to</a:t>
              </a: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Gmail or Copy-Paste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9450533" y="-28575"/>
              <a:ext cx="3145117" cy="1061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82"/>
                </a:lnSpc>
                <a:spcBef>
                  <a:spcPct val="0"/>
                </a:spcBef>
              </a:pPr>
              <a:r>
                <a:rPr lang="en-US" b="true" sz="2486" spc="-7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meet</a:t>
              </a:r>
              <a:r>
                <a:rPr lang="en-US" b="true" sz="2486" spc="-77" strike="noStrike" u="non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 activism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239856" y="6348409"/>
            <a:ext cx="2499394" cy="160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  <a:spcBef>
                <a:spcPct val="0"/>
              </a:spcBef>
            </a:pP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powered 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 emp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athy, not ma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rketi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buzzwo</a:t>
            </a:r>
            <a:r>
              <a:rPr lang="en-US" sz="2517" spc="-78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9580" y="497838"/>
            <a:ext cx="1868662" cy="464694"/>
          </a:xfrm>
          <a:custGeom>
            <a:avLst/>
            <a:gdLst/>
            <a:ahLst/>
            <a:cxnLst/>
            <a:rect r="r" b="b" t="t" l="l"/>
            <a:pathLst>
              <a:path h="464694" w="1868662">
                <a:moveTo>
                  <a:pt x="0" y="0"/>
                </a:moveTo>
                <a:lnTo>
                  <a:pt x="1868663" y="0"/>
                </a:lnTo>
                <a:lnTo>
                  <a:pt x="1868663" y="464694"/>
                </a:lnTo>
                <a:lnTo>
                  <a:pt x="0" y="464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28288" y="-3131012"/>
            <a:ext cx="6262023" cy="626202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8D4B"/>
            </a:solidFill>
            <a:ln w="266700" cap="sq">
              <a:solidFill>
                <a:srgbClr val="6A8D4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333187" y="8396552"/>
            <a:ext cx="4174682" cy="41746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66700" cap="sq">
              <a:solidFill>
                <a:srgbClr val="FDC45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83912" y="2251583"/>
            <a:ext cx="14694303" cy="7549198"/>
          </a:xfrm>
          <a:custGeom>
            <a:avLst/>
            <a:gdLst/>
            <a:ahLst/>
            <a:cxnLst/>
            <a:rect r="r" b="b" t="t" l="l"/>
            <a:pathLst>
              <a:path h="7549198" w="14694303">
                <a:moveTo>
                  <a:pt x="0" y="0"/>
                </a:moveTo>
                <a:lnTo>
                  <a:pt x="14694302" y="0"/>
                </a:lnTo>
                <a:lnTo>
                  <a:pt x="14694302" y="7549198"/>
                </a:lnTo>
                <a:lnTo>
                  <a:pt x="0" y="7549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455A32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549580" y="800607"/>
            <a:ext cx="77813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Demo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0577" y="545096"/>
            <a:ext cx="1868662" cy="483604"/>
          </a:xfrm>
          <a:custGeom>
            <a:avLst/>
            <a:gdLst/>
            <a:ahLst/>
            <a:cxnLst/>
            <a:rect r="r" b="b" t="t" l="l"/>
            <a:pathLst>
              <a:path h="483604" w="1868662">
                <a:moveTo>
                  <a:pt x="0" y="0"/>
                </a:moveTo>
                <a:lnTo>
                  <a:pt x="1868662" y="0"/>
                </a:lnTo>
                <a:lnTo>
                  <a:pt x="1868662" y="483604"/>
                </a:lnTo>
                <a:lnTo>
                  <a:pt x="0" y="48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4" t="0" r="-203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08959" y="3961206"/>
            <a:ext cx="10026043" cy="2575532"/>
            <a:chOff x="0" y="0"/>
            <a:chExt cx="2640604" cy="6783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40604" cy="678329"/>
            </a:xfrm>
            <a:custGeom>
              <a:avLst/>
              <a:gdLst/>
              <a:ahLst/>
              <a:cxnLst/>
              <a:rect r="r" b="b" t="t" l="l"/>
              <a:pathLst>
                <a:path h="678329" w="2640604">
                  <a:moveTo>
                    <a:pt x="39381" y="0"/>
                  </a:moveTo>
                  <a:lnTo>
                    <a:pt x="2601223" y="0"/>
                  </a:lnTo>
                  <a:cubicBezTo>
                    <a:pt x="2622972" y="0"/>
                    <a:pt x="2640604" y="17632"/>
                    <a:pt x="2640604" y="39381"/>
                  </a:cubicBezTo>
                  <a:lnTo>
                    <a:pt x="2640604" y="638948"/>
                  </a:lnTo>
                  <a:cubicBezTo>
                    <a:pt x="2640604" y="660698"/>
                    <a:pt x="2622972" y="678329"/>
                    <a:pt x="2601223" y="678329"/>
                  </a:cubicBezTo>
                  <a:lnTo>
                    <a:pt x="39381" y="678329"/>
                  </a:lnTo>
                  <a:cubicBezTo>
                    <a:pt x="17632" y="678329"/>
                    <a:pt x="0" y="660698"/>
                    <a:pt x="0" y="638948"/>
                  </a:cubicBezTo>
                  <a:lnTo>
                    <a:pt x="0" y="39381"/>
                  </a:lnTo>
                  <a:cubicBezTo>
                    <a:pt x="0" y="17632"/>
                    <a:pt x="17632" y="0"/>
                    <a:pt x="39381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40604" cy="716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08959" y="6785008"/>
            <a:ext cx="10026043" cy="2575532"/>
            <a:chOff x="0" y="0"/>
            <a:chExt cx="2640604" cy="678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40604" cy="678329"/>
            </a:xfrm>
            <a:custGeom>
              <a:avLst/>
              <a:gdLst/>
              <a:ahLst/>
              <a:cxnLst/>
              <a:rect r="r" b="b" t="t" l="l"/>
              <a:pathLst>
                <a:path h="678329" w="2640604">
                  <a:moveTo>
                    <a:pt x="39381" y="0"/>
                  </a:moveTo>
                  <a:lnTo>
                    <a:pt x="2601223" y="0"/>
                  </a:lnTo>
                  <a:cubicBezTo>
                    <a:pt x="2622972" y="0"/>
                    <a:pt x="2640604" y="17632"/>
                    <a:pt x="2640604" y="39381"/>
                  </a:cubicBezTo>
                  <a:lnTo>
                    <a:pt x="2640604" y="638948"/>
                  </a:lnTo>
                  <a:cubicBezTo>
                    <a:pt x="2640604" y="660698"/>
                    <a:pt x="2622972" y="678329"/>
                    <a:pt x="2601223" y="678329"/>
                  </a:cubicBezTo>
                  <a:lnTo>
                    <a:pt x="39381" y="678329"/>
                  </a:lnTo>
                  <a:cubicBezTo>
                    <a:pt x="17632" y="678329"/>
                    <a:pt x="0" y="660698"/>
                    <a:pt x="0" y="638948"/>
                  </a:cubicBezTo>
                  <a:lnTo>
                    <a:pt x="0" y="39381"/>
                  </a:lnTo>
                  <a:cubicBezTo>
                    <a:pt x="0" y="17632"/>
                    <a:pt x="17632" y="0"/>
                    <a:pt x="39381" y="0"/>
                  </a:cubicBezTo>
                  <a:close/>
                </a:path>
              </a:pathLst>
            </a:custGeom>
            <a:solidFill>
              <a:srgbClr val="FDC4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40604" cy="716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224139" y="2705238"/>
            <a:ext cx="9311040" cy="7663000"/>
          </a:xfrm>
          <a:custGeom>
            <a:avLst/>
            <a:gdLst/>
            <a:ahLst/>
            <a:cxnLst/>
            <a:rect r="r" b="b" t="t" l="l"/>
            <a:pathLst>
              <a:path h="7663000" w="9311040">
                <a:moveTo>
                  <a:pt x="0" y="0"/>
                </a:moveTo>
                <a:lnTo>
                  <a:pt x="9311040" y="0"/>
                </a:lnTo>
                <a:lnTo>
                  <a:pt x="9311040" y="7663000"/>
                </a:lnTo>
                <a:lnTo>
                  <a:pt x="0" y="766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506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04609" y="708102"/>
            <a:ext cx="7854691" cy="230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28"/>
              </a:lnSpc>
            </a:pPr>
            <a:r>
              <a:rPr lang="en-US" sz="9196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Next Steps  </a:t>
            </a:r>
            <a:r>
              <a:rPr lang="en-US" sz="91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Futu</a:t>
            </a:r>
            <a:r>
              <a:rPr lang="en-US" sz="919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 Vision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86901" y="3113301"/>
            <a:ext cx="94701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From Col</a:t>
            </a:r>
            <a:r>
              <a:rPr lang="en-US" sz="30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 Emails to Global Outreach Infrastructure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44287" y="6955838"/>
            <a:ext cx="9134226" cy="209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2"/>
              </a:lnSpc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Short-Term Goals:</a:t>
            </a:r>
          </a:p>
          <a:p>
            <a:pPr algn="l">
              <a:lnSpc>
                <a:spcPts val="3612"/>
              </a:lnSpc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 Better company contact database (LinkedIn, Twitter, websites)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 Output UI polish (email cards, tag-based filters)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🔄 Feedback + A/B Testing to improve tone + open rate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🔐 Add “Verified Email” &amp; delivery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24756" y="4147649"/>
            <a:ext cx="8637738" cy="210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8"/>
              </a:lnSpc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 Work:</a:t>
            </a:r>
          </a:p>
          <a:p>
            <a:pPr algn="l">
              <a:lnSpc>
                <a:spcPts val="3678"/>
              </a:lnSpc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🌍 Activist CRM with timeline of outreach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💬 WhatsApp + LinkedIn message formats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🧠 Plug-in for existing activist orgs (NGOs, student groups)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b="true" sz="221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🎤 Voice-based outreach assistant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91981" y="7753070"/>
            <a:ext cx="8298074" cy="82980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45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60925" y="-2204979"/>
            <a:ext cx="3981436" cy="39814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66700" cap="sq">
              <a:solidFill>
                <a:srgbClr val="6A8D4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4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80577" y="545096"/>
            <a:ext cx="1868662" cy="483604"/>
          </a:xfrm>
          <a:custGeom>
            <a:avLst/>
            <a:gdLst/>
            <a:ahLst/>
            <a:cxnLst/>
            <a:rect r="r" b="b" t="t" l="l"/>
            <a:pathLst>
              <a:path h="483604" w="1868662">
                <a:moveTo>
                  <a:pt x="0" y="0"/>
                </a:moveTo>
                <a:lnTo>
                  <a:pt x="1868662" y="0"/>
                </a:lnTo>
                <a:lnTo>
                  <a:pt x="1868662" y="483604"/>
                </a:lnTo>
                <a:lnTo>
                  <a:pt x="0" y="48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4" t="0" r="-203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56261" y="3319507"/>
            <a:ext cx="10119881" cy="7638722"/>
          </a:xfrm>
          <a:custGeom>
            <a:avLst/>
            <a:gdLst/>
            <a:ahLst/>
            <a:cxnLst/>
            <a:rect r="r" b="b" t="t" l="l"/>
            <a:pathLst>
              <a:path h="7638722" w="10119881">
                <a:moveTo>
                  <a:pt x="0" y="0"/>
                </a:moveTo>
                <a:lnTo>
                  <a:pt x="10119880" y="0"/>
                </a:lnTo>
                <a:lnTo>
                  <a:pt x="10119880" y="7638723"/>
                </a:lnTo>
                <a:lnTo>
                  <a:pt x="0" y="7638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481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1259" y="2911646"/>
            <a:ext cx="8515761" cy="173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7"/>
              </a:lnSpc>
            </a:pPr>
            <a:r>
              <a:rPr lang="en-US" sz="1021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1259" y="4652207"/>
            <a:ext cx="6874587" cy="248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97"/>
              </a:lnSpc>
              <a:spcBef>
                <a:spcPct val="0"/>
              </a:spcBef>
            </a:pPr>
            <a:r>
              <a:rPr lang="en-US" b="true" sz="10212" strike="noStrike" u="non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For Your Attention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56261" y="1776457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5E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01900" y="1376595"/>
            <a:ext cx="3086100" cy="3086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5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2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DAGsfKQWE8I</dc:identifier>
  <dcterms:modified xsi:type="dcterms:W3CDTF">2011-08-01T06:04:30Z</dcterms:modified>
  <cp:revision>1</cp:revision>
  <dc:title>Purple and Yellow Illustrative Marketing Budget Presentation</dc:title>
</cp:coreProperties>
</file>