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58" r:id="rId4"/>
    <p:sldId id="268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0" autoAdjust="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871C0-8BEE-4F2C-9BA2-9663CC719E28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2771B-BEB5-4FB3-B61F-E76DEDD33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7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C9A4A-20DB-4C13-9C25-10139B0F9FD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165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A272-1B98-7756-B21D-54AAC768F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D5F1B-4535-A2CC-2E76-4C3E08AB7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9326F-9633-C770-4B8F-7702EBEF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65CEE-93A8-E77E-6149-12E0B72E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4CE0A-13B3-E099-E264-C749A7B6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7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1EDA-F949-7762-7345-3EC6336A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A73D-C754-E2B5-B616-EE148043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E5502-7739-DABC-1D3C-EC9EE6EF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BC613-DEAF-0DBB-2AA4-0A2804E3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2A365-36F6-273A-E85F-BE3BCFAA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5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CC3A-3FE1-0608-AF69-62F314B8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7BFE7-64BF-F955-094B-CA2D54AD6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1B074-72EE-75D3-1713-81A7286E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6CCFA-1C8C-CAA4-A448-D1FD6D9D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3996-BA9A-1D0B-135F-621431AB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6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690F-9551-239D-5BE0-BB7D7E64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0743-FEC6-B634-E47C-2987E9236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011FE-B5BC-2B1A-0E68-A1AA89031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F7494-671A-302E-FF25-F0539C40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A0D23-4063-0C13-5F2E-5877DB79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95E66-F455-7267-A757-23F63A21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1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B620-4238-7450-B7BC-8A6EA49F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87683-D4EF-2932-696B-91C26373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3E9DB-B890-C5C4-54FD-A2AB329D6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FCF46-E11B-100C-6B4F-FB77397BB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BEB23-E520-032B-ECF0-C43E6673B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C44EB-328B-4AD2-5360-ECDFC497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424E9-59CD-981C-46F0-CC55DFE5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0DAEA-7228-8F58-41E8-8B79C6E6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99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3E66-949C-AC89-6293-B7A652B9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13521A-E520-485D-AD89-7160A045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42267-8C95-AF4C-3D24-656E66D7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72F4F-E0A7-505D-B933-0946FE12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74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EEB1B-8DB2-5E31-79ED-CDE4854D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F6A68-F836-43CF-B9BA-0517B5FD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C9473-7CFF-9FF1-EBDE-A4075A96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5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FF25-1B80-BD56-5515-20E9EE08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FCBF-D5F2-3396-AB47-A27716D1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207F9-5A0E-F62C-4DA1-4DCB33A1F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DB421-A61B-A0DB-D6D7-311EE5A1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9CE3C-D57C-0257-F894-2D6A0B88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BD095-FCD1-90DA-7B92-6409F2C0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74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142A-5BB7-2BA1-A4F3-94EB9E8B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38CC8-3D10-819F-0FB9-BEF0A1036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9A2A6-26B8-2245-BD02-03BC123ED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E48A9-22F3-816D-263C-E6D870ED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A7162-128A-A367-07B3-7EE66B6D3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4A55A-9700-199B-4EAC-4DA03BE5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8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DEF5-A1E3-0C1C-2C6E-142BA128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65151-E340-3CEB-4AFA-7C5714CDE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08C60-E7E8-81EA-A947-47256BC3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A804-05B2-EE20-D132-C0DECA6F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38010-95BD-A089-B2CF-B4AF734A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28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232CA-53A0-450B-6F51-AB548EF16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16648-C986-9603-5B32-52BCDD9F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EA637-E232-A575-29D6-B4EEDF7A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F9487-326B-7ECC-D7A1-7BE136C0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CB21-880F-CDC8-E646-6D4260DE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38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16AD6-6273-F245-1B4D-3F28F5ED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9F935-570D-F9DE-AA2F-2A8E4ECB0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5F35A-7F0F-1AC4-4E86-1D90A0E70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B0F70-53CE-49CD-B891-B37EF8D7894A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48B0D-38BA-D763-AE90-58B9068CB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6088-B3A2-F26B-E57E-9062E942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45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A76E-8DAD-6730-42AF-16D46B969C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Precision Care </a:t>
            </a:r>
            <a:r>
              <a:rPr lang="en-US"/>
              <a:t>Challenge 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0015F-B2D4-B19B-0042-89659684D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Phase 1 – Idea Submission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195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5D5F3-61C3-4B2F-9989-E81DEB8C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2">
            <a:extLst>
              <a:ext uri="{FF2B5EF4-FFF2-40B4-BE49-F238E27FC236}">
                <a16:creationId xmlns:a16="http://schemas.microsoft.com/office/drawing/2014/main" id="{D79C9E92-D4E2-6686-8AFD-71910B2DD6A6}"/>
              </a:ext>
            </a:extLst>
          </p:cNvPr>
          <p:cNvSpPr txBox="1"/>
          <p:nvPr/>
        </p:nvSpPr>
        <p:spPr>
          <a:xfrm>
            <a:off x="495360" y="269280"/>
            <a:ext cx="11201040" cy="573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6366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 We Are Solving</a:t>
            </a:r>
            <a:endParaRPr lang="en-US" sz="3200" b="0" strike="noStrike" spc="-1" dirty="0">
              <a:solidFill>
                <a:srgbClr val="63666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Shape 3">
            <a:extLst>
              <a:ext uri="{FF2B5EF4-FFF2-40B4-BE49-F238E27FC236}">
                <a16:creationId xmlns:a16="http://schemas.microsoft.com/office/drawing/2014/main" id="{5AC3EB40-4156-5D8B-BB00-4EC628B4E485}"/>
              </a:ext>
            </a:extLst>
          </p:cNvPr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42D94C85-2365-49DA-BCD4-70B3431B4E03}" type="slidenum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2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88A28-EFC7-CD32-ABD2-28167D82B951}"/>
              </a:ext>
            </a:extLst>
          </p:cNvPr>
          <p:cNvSpPr txBox="1"/>
          <p:nvPr/>
        </p:nvSpPr>
        <p:spPr>
          <a:xfrm>
            <a:off x="385544" y="2040607"/>
            <a:ext cx="5551713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The first 1000 days of life are vital to a child's brain and physical development. Yet, Indian parents, especially in low-income or nuclear family settings, face critical challenges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BA2D2-0CA9-7F15-951B-13E7C73BD72B}"/>
              </a:ext>
            </a:extLst>
          </p:cNvPr>
          <p:cNvSpPr txBox="1"/>
          <p:nvPr/>
        </p:nvSpPr>
        <p:spPr>
          <a:xfrm>
            <a:off x="1853948" y="1059160"/>
            <a:ext cx="2614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The Challenge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05EA0D-EEE1-A694-421C-44160CBEC5CB}"/>
              </a:ext>
            </a:extLst>
          </p:cNvPr>
          <p:cNvCxnSpPr>
            <a:cxnSpLocks/>
          </p:cNvCxnSpPr>
          <p:nvPr/>
        </p:nvCxnSpPr>
        <p:spPr>
          <a:xfrm>
            <a:off x="6242177" y="1812895"/>
            <a:ext cx="0" cy="461958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46499D-C61F-29C3-93EA-0CFC83E11578}"/>
              </a:ext>
            </a:extLst>
          </p:cNvPr>
          <p:cNvCxnSpPr>
            <a:cxnSpLocks/>
          </p:cNvCxnSpPr>
          <p:nvPr/>
        </p:nvCxnSpPr>
        <p:spPr>
          <a:xfrm flipH="1">
            <a:off x="385544" y="3724559"/>
            <a:ext cx="5599271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769348-25A5-5845-23B0-9AD215784708}"/>
              </a:ext>
            </a:extLst>
          </p:cNvPr>
          <p:cNvSpPr txBox="1"/>
          <p:nvPr/>
        </p:nvSpPr>
        <p:spPr>
          <a:xfrm>
            <a:off x="7786786" y="1059160"/>
            <a:ext cx="2859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Primary Problems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DD5B37-F663-3CB4-84C9-F430082CD79B}"/>
              </a:ext>
            </a:extLst>
          </p:cNvPr>
          <p:cNvSpPr txBox="1"/>
          <p:nvPr/>
        </p:nvSpPr>
        <p:spPr>
          <a:xfrm>
            <a:off x="7147250" y="1747749"/>
            <a:ext cx="479592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Limited Personalization: </a:t>
            </a:r>
            <a:r>
              <a:rPr lang="en-US" sz="1600" dirty="0"/>
              <a:t>Google searches are so common that rather than help, they confuse parents more. </a:t>
            </a:r>
            <a:r>
              <a:rPr lang="en-US" sz="1600" dirty="0" err="1"/>
              <a:t>Eg</a:t>
            </a:r>
            <a:r>
              <a:rPr lang="en-US" sz="1600" dirty="0"/>
              <a:t>: A mother googles “vomiting in baby” and everything she finds pertains to adult illnesses. 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Information Not Localized:</a:t>
            </a:r>
            <a:r>
              <a:rPr lang="en-US" sz="1600" dirty="0"/>
              <a:t> Parents know a vaccine is needed, but not where to get it, how much it costs, or if it is urgent. 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Loss of Traditional Knowledge:</a:t>
            </a:r>
            <a:r>
              <a:rPr lang="en-US" sz="1600" dirty="0"/>
              <a:t> In the past, new parents learned from grandparents. Now, in urban areas, grandparents aren't around due to urban migration, and parents are more likely to have nuclear family units. 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Overwhelmed Healthcare System:</a:t>
            </a:r>
            <a:r>
              <a:rPr lang="en-US" sz="1600" dirty="0"/>
              <a:t> India's doctor to patient ratio is 1 : 1,511 (1:1,000 vs WHO ideal), therefore, parents often can't get timely guidance when things happen with babies.</a:t>
            </a:r>
            <a:endParaRPr lang="en-IN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E392DAF-7BFF-58A2-AF76-E520801E5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888" y="1968689"/>
            <a:ext cx="536991" cy="5369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0A8857B-29A6-C054-F165-9DC117E7F4C3}"/>
              </a:ext>
            </a:extLst>
          </p:cNvPr>
          <p:cNvSpPr txBox="1"/>
          <p:nvPr/>
        </p:nvSpPr>
        <p:spPr>
          <a:xfrm>
            <a:off x="1853948" y="3913353"/>
            <a:ext cx="2614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The Impact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F33ACF-D6F2-D544-E0EA-1347A1A62F95}"/>
              </a:ext>
            </a:extLst>
          </p:cNvPr>
          <p:cNvSpPr txBox="1"/>
          <p:nvPr/>
        </p:nvSpPr>
        <p:spPr>
          <a:xfrm>
            <a:off x="1179995" y="4606205"/>
            <a:ext cx="51134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Rising anxiety, over-dependence on misinformation.</a:t>
            </a:r>
          </a:p>
          <a:p>
            <a:endParaRPr lang="en-US" sz="1600" dirty="0"/>
          </a:p>
          <a:p>
            <a:r>
              <a:rPr lang="en-US" sz="1600" dirty="0"/>
              <a:t>Missed or late vaccines.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Preventable complications in nutrition, hygiene, or illnesses.</a:t>
            </a:r>
            <a:endParaRPr lang="en-IN" sz="16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7396801-2959-C1DB-4653-E83AA09F0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92" y="3173733"/>
            <a:ext cx="387146" cy="387146"/>
          </a:xfrm>
          <a:prstGeom prst="rect">
            <a:avLst/>
          </a:prstGeom>
        </p:spPr>
      </p:pic>
      <p:sp>
        <p:nvSpPr>
          <p:cNvPr id="66" name="&quot;Not Allowed&quot; Symbol 65">
            <a:extLst>
              <a:ext uri="{FF2B5EF4-FFF2-40B4-BE49-F238E27FC236}">
                <a16:creationId xmlns:a16="http://schemas.microsoft.com/office/drawing/2014/main" id="{1F4B91B1-F13A-EE65-86CB-F4D34205C899}"/>
              </a:ext>
            </a:extLst>
          </p:cNvPr>
          <p:cNvSpPr/>
          <p:nvPr/>
        </p:nvSpPr>
        <p:spPr>
          <a:xfrm>
            <a:off x="6471547" y="3094258"/>
            <a:ext cx="536992" cy="536991"/>
          </a:xfrm>
          <a:prstGeom prst="noSmoking">
            <a:avLst>
              <a:gd name="adj" fmla="val 75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6D65922-85D5-24CB-629A-A564B5594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769" y="4219827"/>
            <a:ext cx="536992" cy="536992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665E450-B8C6-D734-5634-9DE3F81BE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582" y="5648704"/>
            <a:ext cx="536992" cy="53699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42A92DD2-705F-0FB7-2F57-F7DFA92790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53" y="4540732"/>
            <a:ext cx="506821" cy="50682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CEDE596A-4740-0BF0-E2D6-E0E468E992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53" y="5047553"/>
            <a:ext cx="506821" cy="50682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2305527-636A-43BC-5446-7A6FF72F9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53" y="5554374"/>
            <a:ext cx="506821" cy="50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4474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2"/>
          <p:cNvSpPr txBox="1"/>
          <p:nvPr/>
        </p:nvSpPr>
        <p:spPr>
          <a:xfrm>
            <a:off x="453788" y="373936"/>
            <a:ext cx="10447319" cy="448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6366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Briefly</a:t>
            </a:r>
            <a:r>
              <a:rPr lang="en-US" sz="3200" b="1" strike="noStrike" spc="-1" dirty="0">
                <a:solidFill>
                  <a:srgbClr val="63666A"/>
                </a:solidFill>
                <a:latin typeface="GE Inspira Sans" panose="020B0503060000000003" pitchFamily="34" charset="0"/>
              </a:rPr>
              <a:t> Explain Your Idea/Solution</a:t>
            </a:r>
            <a:endParaRPr lang="en-US" sz="3200" b="0" strike="noStrike" spc="-1" dirty="0">
              <a:solidFill>
                <a:srgbClr val="63666A"/>
              </a:solidFill>
              <a:latin typeface="GE Inspira Sans" panose="020B0503060000000003" pitchFamily="34" charset="0"/>
            </a:endParaRPr>
          </a:p>
        </p:txBody>
      </p:sp>
      <p:sp>
        <p:nvSpPr>
          <p:cNvPr id="90" name="TextShape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5EB7DB07-F122-4776-9FDC-659BDAA8ED09}" type="slidenum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3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92" name="CustomShape 5"/>
          <p:cNvSpPr/>
          <p:nvPr/>
        </p:nvSpPr>
        <p:spPr>
          <a:xfrm>
            <a:off x="1242524" y="5396435"/>
            <a:ext cx="3377684" cy="334385"/>
          </a:xfrm>
          <a:prstGeom prst="rect">
            <a:avLst/>
          </a:prstGeom>
          <a:ln>
            <a:noFill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0" tIns="0" rIns="0" bIns="0"/>
          <a:lstStyle/>
          <a:p>
            <a:pPr>
              <a:spcBef>
                <a:spcPts val="2401"/>
              </a:spcBef>
            </a:pPr>
            <a:r>
              <a:rPr lang="it-IT" sz="1500" b="1" strike="noStrike" spc="-1" dirty="0">
                <a:solidFill>
                  <a:srgbClr val="002060"/>
                </a:solidFill>
              </a:rPr>
              <a:t>Conversational AI (LLM) + Vision AI (VLM)</a:t>
            </a:r>
            <a:endParaRPr lang="en-US" sz="1500" b="1" strike="noStrike" spc="-1" dirty="0">
              <a:solidFill>
                <a:srgbClr val="002060"/>
              </a:solidFill>
            </a:endParaRPr>
          </a:p>
        </p:txBody>
      </p:sp>
      <p:sp>
        <p:nvSpPr>
          <p:cNvPr id="93" name="CustomShape 6"/>
          <p:cNvSpPr/>
          <p:nvPr/>
        </p:nvSpPr>
        <p:spPr>
          <a:xfrm>
            <a:off x="432730" y="4738641"/>
            <a:ext cx="10468377" cy="3343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63666A"/>
                </a:solidFill>
                <a:latin typeface="GE Inspira Sans" panose="020B0503060000000003"/>
                <a:cs typeface="Calibri" panose="020F0502020204030204" pitchFamily="34" charset="0"/>
              </a:rPr>
              <a:t>Uniqueness of the Solution</a:t>
            </a:r>
            <a:endParaRPr lang="en-US" sz="2800" b="0" strike="noStrike" spc="-1" dirty="0">
              <a:latin typeface="GE Inspira Sans" panose="020B0503060000000003"/>
              <a:cs typeface="Calibri" panose="020F0502020204030204" pitchFamily="34" charset="0"/>
            </a:endParaRPr>
          </a:p>
        </p:txBody>
      </p:sp>
      <p:sp>
        <p:nvSpPr>
          <p:cNvPr id="2" name="CustomShape 5">
            <a:extLst>
              <a:ext uri="{FF2B5EF4-FFF2-40B4-BE49-F238E27FC236}">
                <a16:creationId xmlns:a16="http://schemas.microsoft.com/office/drawing/2014/main" id="{F6600E61-7B12-25DE-8A67-8121DB2F7A39}"/>
              </a:ext>
            </a:extLst>
          </p:cNvPr>
          <p:cNvSpPr/>
          <p:nvPr/>
        </p:nvSpPr>
        <p:spPr>
          <a:xfrm>
            <a:off x="6478326" y="5319335"/>
            <a:ext cx="5222034" cy="334385"/>
          </a:xfrm>
          <a:prstGeom prst="rect">
            <a:avLst/>
          </a:prstGeom>
          <a:ln>
            <a:noFill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0" tIns="0" rIns="0" bIns="0"/>
          <a:lstStyle/>
          <a:p>
            <a:pPr>
              <a:spcBef>
                <a:spcPts val="2401"/>
              </a:spcBef>
            </a:pPr>
            <a:r>
              <a:rPr lang="en-US" sz="1500" b="1" spc="-1" dirty="0">
                <a:solidFill>
                  <a:srgbClr val="002060"/>
                </a:solidFill>
              </a:rPr>
              <a:t>Indian regional languages, Hinglish input, and voice support</a:t>
            </a:r>
          </a:p>
        </p:txBody>
      </p:sp>
      <p:sp>
        <p:nvSpPr>
          <p:cNvPr id="4" name="CustomShape 5">
            <a:extLst>
              <a:ext uri="{FF2B5EF4-FFF2-40B4-BE49-F238E27FC236}">
                <a16:creationId xmlns:a16="http://schemas.microsoft.com/office/drawing/2014/main" id="{94CF0CEB-3FDC-2E06-57A9-45114A17FF6D}"/>
              </a:ext>
            </a:extLst>
          </p:cNvPr>
          <p:cNvSpPr/>
          <p:nvPr/>
        </p:nvSpPr>
        <p:spPr>
          <a:xfrm>
            <a:off x="1242524" y="5983938"/>
            <a:ext cx="4743062" cy="334385"/>
          </a:xfrm>
          <a:prstGeom prst="rect">
            <a:avLst/>
          </a:prstGeom>
          <a:ln>
            <a:noFill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0" tIns="0" rIns="0" bIns="0"/>
          <a:lstStyle/>
          <a:p>
            <a:pPr>
              <a:spcBef>
                <a:spcPts val="2401"/>
              </a:spcBef>
            </a:pPr>
            <a:r>
              <a:rPr lang="en-US" sz="1500" b="1" spc="-1" dirty="0">
                <a:solidFill>
                  <a:srgbClr val="002060"/>
                </a:solidFill>
              </a:rPr>
              <a:t>Actionable location-based insights (hospital, vaccines)</a:t>
            </a: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42D0203E-D676-3279-9CB7-700AFC6CC641}"/>
              </a:ext>
            </a:extLst>
          </p:cNvPr>
          <p:cNvSpPr/>
          <p:nvPr/>
        </p:nvSpPr>
        <p:spPr>
          <a:xfrm>
            <a:off x="6478326" y="5983938"/>
            <a:ext cx="5222034" cy="334385"/>
          </a:xfrm>
          <a:prstGeom prst="rect">
            <a:avLst/>
          </a:prstGeom>
          <a:ln>
            <a:noFill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0" tIns="0" rIns="0" bIns="0"/>
          <a:lstStyle/>
          <a:p>
            <a:pPr>
              <a:spcBef>
                <a:spcPts val="2401"/>
              </a:spcBef>
            </a:pPr>
            <a:r>
              <a:rPr lang="en-US" sz="1500" b="1" spc="-1" dirty="0">
                <a:solidFill>
                  <a:srgbClr val="002060"/>
                </a:solidFill>
              </a:rPr>
              <a:t>Offline-ready fallback and low-literate user 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325FC2-4F57-20DA-54C7-3492782D4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32" y="5339213"/>
            <a:ext cx="340266" cy="340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DF8B57-14A0-0B5D-6587-52A04BC55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84" y="5951505"/>
            <a:ext cx="366818" cy="3668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953D44-B341-2936-7630-2362D9B443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5586" y="5298766"/>
            <a:ext cx="344501" cy="3445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D36B75-3B52-42FA-30E9-9F94163BE7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1974" y="5962868"/>
            <a:ext cx="308113" cy="308113"/>
          </a:xfrm>
          <a:prstGeom prst="rect">
            <a:avLst/>
          </a:prstGeom>
        </p:spPr>
      </p:pic>
      <p:pic>
        <p:nvPicPr>
          <p:cNvPr id="3" name="Arjuna ai">
            <a:hlinkClick r:id="" action="ppaction://media"/>
            <a:extLst>
              <a:ext uri="{FF2B5EF4-FFF2-40B4-BE49-F238E27FC236}">
                <a16:creationId xmlns:a16="http://schemas.microsoft.com/office/drawing/2014/main" id="{1A244A0F-2A28-D82A-F273-66AFD2D269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578156" y="1051011"/>
            <a:ext cx="6990500" cy="335474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CFB367-B33F-8689-4B85-2EA1EE84FDE0}"/>
              </a:ext>
            </a:extLst>
          </p:cNvPr>
          <p:cNvSpPr/>
          <p:nvPr/>
        </p:nvSpPr>
        <p:spPr>
          <a:xfrm>
            <a:off x="2365512" y="904462"/>
            <a:ext cx="7415789" cy="3647840"/>
          </a:xfrm>
          <a:prstGeom prst="roundRect">
            <a:avLst>
              <a:gd name="adj" fmla="val 6997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70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6973-433C-AF3E-13C3-8DABF769F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2">
            <a:extLst>
              <a:ext uri="{FF2B5EF4-FFF2-40B4-BE49-F238E27FC236}">
                <a16:creationId xmlns:a16="http://schemas.microsoft.com/office/drawing/2014/main" id="{33701F58-D3B5-2DEA-0B65-3D8BC5AB485F}"/>
              </a:ext>
            </a:extLst>
          </p:cNvPr>
          <p:cNvSpPr txBox="1"/>
          <p:nvPr/>
        </p:nvSpPr>
        <p:spPr>
          <a:xfrm>
            <a:off x="495360" y="250426"/>
            <a:ext cx="11201040" cy="573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6366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Explanation of the Solution</a:t>
            </a:r>
            <a:endParaRPr lang="en-US" sz="3200" b="0" strike="noStrike" spc="-1" dirty="0">
              <a:solidFill>
                <a:srgbClr val="63666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TextShape 3">
            <a:extLst>
              <a:ext uri="{FF2B5EF4-FFF2-40B4-BE49-F238E27FC236}">
                <a16:creationId xmlns:a16="http://schemas.microsoft.com/office/drawing/2014/main" id="{A94E24EA-8FF1-E0D2-760A-0AB08A34319A}"/>
              </a:ext>
            </a:extLst>
          </p:cNvPr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4585DC05-A314-46F0-B650-3AAE9FF55CEC}" type="slidenum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4</a:t>
            </a:fld>
            <a:endParaRPr lang="en-US" sz="1000" b="0" strike="noStrike" spc="-1" dirty="0">
              <a:latin typeface="Times New Roman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BDA2E4A-841E-689C-6A75-B639F61ADA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7" t="13747" r="4565" b="11157"/>
          <a:stretch>
            <a:fillRect/>
          </a:stretch>
        </p:blipFill>
        <p:spPr bwMode="auto">
          <a:xfrm>
            <a:off x="6319795" y="1617806"/>
            <a:ext cx="5740197" cy="379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7F97A2-83A6-994D-5D38-2F1AAE462A80}"/>
              </a:ext>
            </a:extLst>
          </p:cNvPr>
          <p:cNvSpPr txBox="1"/>
          <p:nvPr/>
        </p:nvSpPr>
        <p:spPr>
          <a:xfrm>
            <a:off x="7880138" y="824584"/>
            <a:ext cx="2859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Key Features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26A01-7885-981F-E84F-B01F5FFD7F1E}"/>
              </a:ext>
            </a:extLst>
          </p:cNvPr>
          <p:cNvCxnSpPr>
            <a:cxnSpLocks/>
          </p:cNvCxnSpPr>
          <p:nvPr/>
        </p:nvCxnSpPr>
        <p:spPr>
          <a:xfrm>
            <a:off x="6155159" y="1063487"/>
            <a:ext cx="0" cy="5635728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6F1299B-40AE-3149-E0FA-12B14CB9B29E}"/>
              </a:ext>
            </a:extLst>
          </p:cNvPr>
          <p:cNvSpPr txBox="1"/>
          <p:nvPr/>
        </p:nvSpPr>
        <p:spPr>
          <a:xfrm>
            <a:off x="1083108" y="849124"/>
            <a:ext cx="42293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How </a:t>
            </a:r>
            <a:r>
              <a:rPr lang="en-US" sz="2800" b="1" dirty="0" err="1">
                <a:solidFill>
                  <a:srgbClr val="002060"/>
                </a:solidFill>
              </a:rPr>
              <a:t>BacchaSaathi</a:t>
            </a:r>
            <a:r>
              <a:rPr lang="en-IN" sz="2800" b="1" dirty="0">
                <a:solidFill>
                  <a:srgbClr val="002060"/>
                </a:solidFill>
              </a:rPr>
              <a:t>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9D513-74E7-E4B0-5CB7-025E9411873E}"/>
              </a:ext>
            </a:extLst>
          </p:cNvPr>
          <p:cNvSpPr txBox="1"/>
          <p:nvPr/>
        </p:nvSpPr>
        <p:spPr>
          <a:xfrm>
            <a:off x="768082" y="1452770"/>
            <a:ext cx="55517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Parents input a question or upload a baby-related photo. </a:t>
            </a:r>
          </a:p>
          <a:p>
            <a:endParaRPr lang="en-US" sz="1600" dirty="0"/>
          </a:p>
          <a:p>
            <a:r>
              <a:rPr lang="en-US" sz="1600" dirty="0"/>
              <a:t>The LLM/VLM processes and gives personalized, human-like responses. Data saved locally for offline re-check. </a:t>
            </a:r>
          </a:p>
          <a:p>
            <a:endParaRPr lang="en-US" sz="1600" dirty="0"/>
          </a:p>
          <a:p>
            <a:r>
              <a:rPr lang="en-US" sz="1600" dirty="0"/>
              <a:t>Vaccine reminders auto-triggered based on date of birth.</a:t>
            </a: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AA0F4-1BF0-5FE8-7C2B-A78E0432A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15" y="1511553"/>
            <a:ext cx="237794" cy="237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057A5B-B691-FDBB-9713-710F7314A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15" y="1999806"/>
            <a:ext cx="237794" cy="2377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356989-0D66-A0B3-C490-7EBBCEA27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15" y="2731597"/>
            <a:ext cx="237794" cy="2377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2F8513-5A4B-1801-FA48-22CFB30B34AE}"/>
              </a:ext>
            </a:extLst>
          </p:cNvPr>
          <p:cNvSpPr txBox="1"/>
          <p:nvPr/>
        </p:nvSpPr>
        <p:spPr>
          <a:xfrm>
            <a:off x="798270" y="3306766"/>
            <a:ext cx="4530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Advantages &amp; Limitations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0077EF-905E-29B7-9BFB-30961F005E5D}"/>
              </a:ext>
            </a:extLst>
          </p:cNvPr>
          <p:cNvCxnSpPr>
            <a:cxnSpLocks/>
          </p:cNvCxnSpPr>
          <p:nvPr/>
        </p:nvCxnSpPr>
        <p:spPr>
          <a:xfrm flipH="1">
            <a:off x="226014" y="3290682"/>
            <a:ext cx="5599271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BC6427-56EE-D245-15D6-73FE9A73CB03}"/>
              </a:ext>
            </a:extLst>
          </p:cNvPr>
          <p:cNvSpPr/>
          <p:nvPr/>
        </p:nvSpPr>
        <p:spPr>
          <a:xfrm>
            <a:off x="221046" y="3880792"/>
            <a:ext cx="2730450" cy="2859596"/>
          </a:xfrm>
          <a:prstGeom prst="roundRect">
            <a:avLst>
              <a:gd name="adj" fmla="val 6381"/>
            </a:avLst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A09838B-C370-20FE-B503-B853A00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validation still required for edge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1BC882-9556-79FE-ECC1-23CD5264853C}"/>
              </a:ext>
            </a:extLst>
          </p:cNvPr>
          <p:cNvSpPr txBox="1"/>
          <p:nvPr/>
        </p:nvSpPr>
        <p:spPr>
          <a:xfrm>
            <a:off x="265323" y="4237002"/>
            <a:ext cx="27304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Personalized, safe advice rooted in Indian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Scalable to integrate with Govt. ASHA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add multilingual voice and text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HIPAA &amp; GDPR compliant for secure data use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FB3FAA-A56E-FB5F-798B-3F5D801A06A5}"/>
              </a:ext>
            </a:extLst>
          </p:cNvPr>
          <p:cNvSpPr txBox="1"/>
          <p:nvPr/>
        </p:nvSpPr>
        <p:spPr>
          <a:xfrm>
            <a:off x="3202122" y="4832018"/>
            <a:ext cx="28670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Medical validation still required for edge cases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Image-based AI may need clinical tuning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B25118-863B-16A0-E3C4-7CF5B0D3278B}"/>
              </a:ext>
            </a:extLst>
          </p:cNvPr>
          <p:cNvSpPr txBox="1"/>
          <p:nvPr/>
        </p:nvSpPr>
        <p:spPr>
          <a:xfrm>
            <a:off x="1072361" y="3898448"/>
            <a:ext cx="12944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Advantages</a:t>
            </a:r>
            <a:endParaRPr lang="en-IN" sz="1600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34EA50D-5998-46E9-C642-3FCAFC27D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15" y="3984380"/>
            <a:ext cx="182266" cy="18226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50FB887-8A69-A013-FCF3-3F1D40E8FEAC}"/>
              </a:ext>
            </a:extLst>
          </p:cNvPr>
          <p:cNvSpPr txBox="1"/>
          <p:nvPr/>
        </p:nvSpPr>
        <p:spPr>
          <a:xfrm>
            <a:off x="4003152" y="3906235"/>
            <a:ext cx="12649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Limitations</a:t>
            </a:r>
            <a:endParaRPr lang="en-IN" sz="1600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48DCDE9-B9F5-68CB-D89D-1AB6329AD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668" y="3964828"/>
            <a:ext cx="214604" cy="214604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8F2C749-0388-0C7F-590C-9C5499C82A55}"/>
              </a:ext>
            </a:extLst>
          </p:cNvPr>
          <p:cNvSpPr/>
          <p:nvPr/>
        </p:nvSpPr>
        <p:spPr>
          <a:xfrm>
            <a:off x="3197786" y="3893159"/>
            <a:ext cx="2730450" cy="2859596"/>
          </a:xfrm>
          <a:prstGeom prst="roundRect">
            <a:avLst>
              <a:gd name="adj" fmla="val 6381"/>
            </a:avLst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32926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B535-81C7-261C-B653-437DD7E2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2">
            <a:extLst>
              <a:ext uri="{FF2B5EF4-FFF2-40B4-BE49-F238E27FC236}">
                <a16:creationId xmlns:a16="http://schemas.microsoft.com/office/drawing/2014/main" id="{86BDFDBD-D33A-F1C0-788F-BE471715EBAF}"/>
              </a:ext>
            </a:extLst>
          </p:cNvPr>
          <p:cNvSpPr txBox="1"/>
          <p:nvPr/>
        </p:nvSpPr>
        <p:spPr>
          <a:xfrm>
            <a:off x="495360" y="269280"/>
            <a:ext cx="11201040" cy="573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2800" b="1" strike="noStrike" spc="-1" dirty="0">
                <a:solidFill>
                  <a:srgbClr val="63666A"/>
                </a:solidFill>
                <a:latin typeface="GE Inspira Sans"/>
              </a:rPr>
              <a:t>Example User Journey: Priya, a First-Time Mother from Bhopal</a:t>
            </a:r>
            <a:endParaRPr lang="en-US" sz="2800" b="0" strike="noStrike" spc="-1" dirty="0">
              <a:solidFill>
                <a:srgbClr val="63666A"/>
              </a:solidFill>
              <a:latin typeface="GE Inspira Sans"/>
            </a:endParaRPr>
          </a:p>
        </p:txBody>
      </p:sp>
      <p:sp>
        <p:nvSpPr>
          <p:cNvPr id="31" name="TextShape 3">
            <a:extLst>
              <a:ext uri="{FF2B5EF4-FFF2-40B4-BE49-F238E27FC236}">
                <a16:creationId xmlns:a16="http://schemas.microsoft.com/office/drawing/2014/main" id="{E83C547C-40EB-A423-F8D6-3569913F82FF}"/>
              </a:ext>
            </a:extLst>
          </p:cNvPr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4585DC05-A314-46F0-B650-3AAE9FF55CEC}" type="slidenum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5</a:t>
            </a:fld>
            <a:endParaRPr lang="en-US" sz="1000" b="0" strike="noStrike" spc="-1" dirty="0">
              <a:latin typeface="Times New Roman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D93FBD2-271F-D950-2750-B27B9922FD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8" t="22464" r="4996" b="10000"/>
          <a:stretch>
            <a:fillRect/>
          </a:stretch>
        </p:blipFill>
        <p:spPr bwMode="auto">
          <a:xfrm>
            <a:off x="2255988" y="2428679"/>
            <a:ext cx="7680023" cy="442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8590F4-D51E-1543-5FD0-5611203D768E}"/>
              </a:ext>
            </a:extLst>
          </p:cNvPr>
          <p:cNvSpPr txBox="1"/>
          <p:nvPr/>
        </p:nvSpPr>
        <p:spPr>
          <a:xfrm>
            <a:off x="-411775" y="843120"/>
            <a:ext cx="3463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002060"/>
                </a:solidFill>
              </a:rPr>
              <a:t>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BFADE-5039-DC52-295C-488699DD551C}"/>
              </a:ext>
            </a:extLst>
          </p:cNvPr>
          <p:cNvSpPr txBox="1"/>
          <p:nvPr/>
        </p:nvSpPr>
        <p:spPr>
          <a:xfrm>
            <a:off x="605481" y="1243230"/>
            <a:ext cx="10884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Priya, a 27-year-old first-time mother from a semi-urban area in Bhopal, has basic smartphone access. She speaks Hindi and prefers audio over text. Her baby is 6 months old.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EF143-964A-5404-A897-30FE01128A0C}"/>
              </a:ext>
            </a:extLst>
          </p:cNvPr>
          <p:cNvSpPr txBox="1"/>
          <p:nvPr/>
        </p:nvSpPr>
        <p:spPr>
          <a:xfrm>
            <a:off x="0" y="1928287"/>
            <a:ext cx="5927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How Priya Uses </a:t>
            </a:r>
            <a:r>
              <a:rPr lang="en-US" sz="2000" b="1" dirty="0" err="1">
                <a:solidFill>
                  <a:srgbClr val="002060"/>
                </a:solidFill>
              </a:rPr>
              <a:t>BacchaSaathi</a:t>
            </a:r>
            <a:r>
              <a:rPr lang="en-US" sz="2000" b="1" dirty="0">
                <a:solidFill>
                  <a:srgbClr val="002060"/>
                </a:solidFill>
              </a:rPr>
              <a:t> Step-by-Step</a:t>
            </a:r>
            <a:endParaRPr lang="en-IN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71568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416</Words>
  <Application>Microsoft Office PowerPoint</Application>
  <PresentationFormat>Widescreen</PresentationFormat>
  <Paragraphs>56</Paragraphs>
  <Slides>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GE Inspira Sans</vt:lpstr>
      <vt:lpstr>Times New Roman</vt:lpstr>
      <vt:lpstr>Office Theme</vt:lpstr>
      <vt:lpstr>Precision Care Challenge 2025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Care Challenge 2023</dc:title>
  <dc:creator>Sailesh, Surekha (GE HealthCare)</dc:creator>
  <cp:lastModifiedBy>Dhiraj Nair</cp:lastModifiedBy>
  <cp:revision>5</cp:revision>
  <cp:lastPrinted>2025-07-17T19:47:47Z</cp:lastPrinted>
  <dcterms:created xsi:type="dcterms:W3CDTF">2023-07-11T13:48:39Z</dcterms:created>
  <dcterms:modified xsi:type="dcterms:W3CDTF">2025-07-18T15:53:20Z</dcterms:modified>
</cp:coreProperties>
</file>